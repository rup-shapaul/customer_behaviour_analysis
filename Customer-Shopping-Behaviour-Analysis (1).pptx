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6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Overpass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63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Shopping Behaviour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data insights across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purchases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spending patterns, segments &amp; product preferences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3F75B-8C9C-D767-3819-213BE7B0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41" y="735916"/>
            <a:ext cx="3429000" cy="3671668"/>
          </a:xfrm>
          <a:prstGeom prst="rect">
            <a:avLst/>
          </a:prstGeom>
          <a:solidFill>
            <a:srgbClr val="FFFDE6"/>
          </a:solidFill>
          <a:ln>
            <a:noFill/>
          </a:ln>
          <a:effectLst>
            <a:glow rad="101600">
              <a:schemeClr val="accent3">
                <a:lumMod val="20000"/>
                <a:lumOff val="80000"/>
                <a:alpha val="60000"/>
              </a:schemeClr>
            </a:glo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3DCE15-CA4D-0030-E6EA-69621D9EDEF2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113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847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4033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75847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685952" y="24033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75847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462266" y="24033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270986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 column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2379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601120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3237905"/>
            <a:ext cx="18956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Purchase &amp; Behaviour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49701" y="360112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Amount, Discount, Frequency, Review Rating, Shipping Type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C493F8-C5B9-3C1A-AB9C-2BCB3ECB6E5F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9610" y="390004"/>
            <a:ext cx="419033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660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170087"/>
            <a:ext cx="481578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449610" y="12628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10" y="1533376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import, df.info(), 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10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9610" y="2146027"/>
            <a:ext cx="481578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449610" y="22388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&amp; Standardize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9610" y="250931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imputation for Review Rating; snake_case columns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9610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610" y="3121968"/>
            <a:ext cx="481578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449610" y="321476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610" y="348525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age_group bins, purchase_frequency_days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610" y="38938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9610" y="4097908"/>
            <a:ext cx="481578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449610" y="419070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to 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610" y="446119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DataFrame → database for SQL analysis</a:t>
            </a:r>
            <a:endParaRPr lang="en-US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BC1BB7-7B20-5429-FAD3-DFD24910F178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AutoShape 2" descr="Generated image: Data preparation in Python flowchart">
            <a:extLst>
              <a:ext uri="{FF2B5EF4-FFF2-40B4-BE49-F238E27FC236}">
                <a16:creationId xmlns:a16="http://schemas.microsoft.com/office/drawing/2014/main" id="{B3C83341-7403-7E27-443C-6BD912D3A3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99F435E-0F4F-93D7-D625-E157B5985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468" y="1262881"/>
            <a:ext cx="3404381" cy="2791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327A03-31DF-57E3-895F-4488ADBB27C2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714AD9-A79B-F4C0-4729-97264C2F5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431" y="1192091"/>
            <a:ext cx="6625883" cy="361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32FA8B-90B4-08D5-2F35-6D37F52908E6}"/>
              </a:ext>
            </a:extLst>
          </p:cNvPr>
          <p:cNvSpPr txBox="1"/>
          <p:nvPr/>
        </p:nvSpPr>
        <p:spPr>
          <a:xfrm>
            <a:off x="844061" y="365761"/>
            <a:ext cx="286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Inter Bold"/>
              </a:rPr>
              <a:t>Project Overview</a:t>
            </a:r>
            <a:endParaRPr lang="en-IN" b="1" dirty="0">
              <a:latin typeface="Inter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5207"/>
            <a:ext cx="5235476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Revenue by Gender &amp; Shipping Type</a:t>
            </a:r>
            <a:endParaRPr lang="en-US" sz="20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C6158D-5A08-5C12-35C8-1824601E048D}"/>
              </a:ext>
            </a:extLst>
          </p:cNvPr>
          <p:cNvGrpSpPr/>
          <p:nvPr/>
        </p:nvGrpSpPr>
        <p:grpSpPr>
          <a:xfrm>
            <a:off x="963961" y="1076326"/>
            <a:ext cx="4459134" cy="759510"/>
            <a:chOff x="903759" y="1225153"/>
            <a:chExt cx="5492171" cy="501424"/>
          </a:xfrm>
        </p:grpSpPr>
        <p:sp>
          <p:nvSpPr>
            <p:cNvPr id="3" name="Text 1"/>
            <p:cNvSpPr/>
            <p:nvPr/>
          </p:nvSpPr>
          <p:spPr>
            <a:xfrm>
              <a:off x="903759" y="1225153"/>
              <a:ext cx="1432099" cy="1660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1600" b="1" dirty="0">
                  <a:solidFill>
                    <a:srgbClr val="233939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Revenue by Gender</a:t>
              </a:r>
              <a:endParaRPr lang="en-US" sz="16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903759" y="1470943"/>
              <a:ext cx="5492171" cy="2556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200" dirty="0">
                  <a:solidFill>
                    <a:srgbClr val="3B4E4E"/>
                  </a:solidFill>
                  <a:latin typeface="Overpass Light" pitchFamily="34" charset="0"/>
                  <a:ea typeface="Overpass Light" pitchFamily="34" charset="-122"/>
                  <a:cs typeface="Overpass Light" pitchFamily="34" charset="-120"/>
                </a:rPr>
                <a:t>Compared total revenue generated by </a:t>
              </a:r>
            </a:p>
            <a:p>
              <a:pPr marL="0" indent="0" algn="l">
                <a:lnSpc>
                  <a:spcPts val="1150"/>
                </a:lnSpc>
                <a:buNone/>
              </a:pPr>
              <a:r>
                <a:rPr lang="en-US" sz="1200" dirty="0">
                  <a:solidFill>
                    <a:srgbClr val="3B4E4E"/>
                  </a:solidFill>
                  <a:latin typeface="Overpass Light" pitchFamily="34" charset="0"/>
                  <a:ea typeface="Overpass Light" pitchFamily="34" charset="-122"/>
                  <a:cs typeface="Overpass Light" pitchFamily="34" charset="-120"/>
                </a:rPr>
                <a:t>male vs. female customers</a:t>
              </a:r>
              <a:r>
                <a:rPr lang="en-US" sz="800" dirty="0">
                  <a:solidFill>
                    <a:srgbClr val="3B4E4E"/>
                  </a:solidFill>
                  <a:latin typeface="Overpass Light" pitchFamily="34" charset="0"/>
                  <a:ea typeface="Overpass Light" pitchFamily="34" charset="-122"/>
                  <a:cs typeface="Overpass Light" pitchFamily="34" charset="-120"/>
                </a:rPr>
                <a:t>.</a:t>
              </a:r>
              <a:endParaRPr lang="en-US" sz="8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CAAA7E-7B6C-41E6-1486-57EA32D72F95}"/>
              </a:ext>
            </a:extLst>
          </p:cNvPr>
          <p:cNvGrpSpPr/>
          <p:nvPr/>
        </p:nvGrpSpPr>
        <p:grpSpPr>
          <a:xfrm>
            <a:off x="5841132" y="1051187"/>
            <a:ext cx="2399109" cy="839512"/>
            <a:chOff x="5845746" y="876746"/>
            <a:chExt cx="2399109" cy="543446"/>
          </a:xfrm>
        </p:grpSpPr>
        <p:sp>
          <p:nvSpPr>
            <p:cNvPr id="6" name="Text 3"/>
            <p:cNvSpPr/>
            <p:nvPr/>
          </p:nvSpPr>
          <p:spPr>
            <a:xfrm>
              <a:off x="5845746" y="876746"/>
              <a:ext cx="1951806" cy="1660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1600" b="1" dirty="0">
                  <a:solidFill>
                    <a:srgbClr val="233939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Shipping Type Comparison</a:t>
              </a:r>
              <a:endParaRPr lang="en-US" sz="1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845746" y="1122536"/>
              <a:ext cx="2399109" cy="297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100" dirty="0">
                  <a:solidFill>
                    <a:srgbClr val="3B4E4E"/>
                  </a:solidFill>
                  <a:latin typeface="Overpass Light" pitchFamily="34" charset="0"/>
                  <a:ea typeface="Overpass Light" pitchFamily="34" charset="-122"/>
                  <a:cs typeface="Overpass Light" pitchFamily="34" charset="-120"/>
                </a:rPr>
                <a:t>Average purchase amounts: Standard vs. Express shipping.</a:t>
              </a:r>
              <a:endParaRPr lang="en-US" sz="1100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D67B1E1-2EBD-5D8D-A487-B3221DE90F05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30AA42-D6DF-1C53-C465-DA95F0550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556" y="2078923"/>
            <a:ext cx="3210225" cy="21422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77E44F-2BBD-E9A9-2972-438BAC90F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05" y="2078922"/>
            <a:ext cx="3086443" cy="21422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3241"/>
            <a:ext cx="57047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Products &amp; Shipping Insights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985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0510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average review ratings per product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272433" y="2998589"/>
            <a:ext cx="18660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latin typeface="Inter Bold"/>
              </a:rPr>
              <a:t>Review by Customers</a:t>
            </a:r>
          </a:p>
        </p:txBody>
      </p:sp>
      <p:sp>
        <p:nvSpPr>
          <p:cNvPr id="8" name="Text 4"/>
          <p:cNvSpPr/>
          <p:nvPr/>
        </p:nvSpPr>
        <p:spPr>
          <a:xfrm>
            <a:off x="3272433" y="330510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latin typeface="Inter" panose="020B0604020202020204" charset="0"/>
                <a:ea typeface="Inter" panose="020B0604020202020204" charset="0"/>
              </a:rPr>
              <a:t>Highest review ratings as per customers</a:t>
            </a:r>
          </a:p>
        </p:txBody>
      </p:sp>
      <p:sp>
        <p:nvSpPr>
          <p:cNvPr id="10" name="Text 5"/>
          <p:cNvSpPr/>
          <p:nvPr/>
        </p:nvSpPr>
        <p:spPr>
          <a:xfrm>
            <a:off x="6048747" y="2998589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0510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products with highest % of discounted purchases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48BD2D-2620-9DBA-7C86-35605766C7FC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00CCFD-C6D4-4083-D2C1-6F890FD17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637900"/>
            <a:ext cx="2210322" cy="12685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FF0447-7703-8622-2ECB-D0536ED37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691284"/>
            <a:ext cx="2296318" cy="12151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F9FEAE-3D5D-7538-4718-BC3768C18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439" y="1662246"/>
            <a:ext cx="2058068" cy="1293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57642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Subscribers vs. Non-Subscribers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024339" y="2384747"/>
            <a:ext cx="22694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Spend &amp;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747962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Compared average spend and total revenue across subscription status to assess subscriber value.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A0A102-FEC4-BC1D-C2B3-B3A093EC3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21" y="1423802"/>
            <a:ext cx="4098159" cy="3091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C00800C-B360-6B25-5422-360407DA770D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28985"/>
            <a:ext cx="5903119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 &amp; Repeat Buyers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24135" y="4070270"/>
            <a:ext cx="486266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200" dirty="0"/>
          </a:p>
        </p:txBody>
      </p:sp>
      <p:sp>
        <p:nvSpPr>
          <p:cNvPr id="8" name="Text 1"/>
          <p:cNvSpPr/>
          <p:nvPr/>
        </p:nvSpPr>
        <p:spPr>
          <a:xfrm>
            <a:off x="6024339" y="1190997"/>
            <a:ext cx="25909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Three Customer Segments</a:t>
            </a:r>
            <a:endParaRPr lang="en-US" sz="1350" dirty="0"/>
          </a:p>
        </p:txBody>
      </p:sp>
      <p:sp>
        <p:nvSpPr>
          <p:cNvPr id="9" name="Shape 2"/>
          <p:cNvSpPr/>
          <p:nvPr/>
        </p:nvSpPr>
        <p:spPr>
          <a:xfrm>
            <a:off x="6024339" y="1571923"/>
            <a:ext cx="2628230" cy="911647"/>
          </a:xfrm>
          <a:prstGeom prst="roundRect">
            <a:avLst>
              <a:gd name="adj" fmla="val 10030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6005289" y="1571923"/>
            <a:ext cx="76200" cy="911647"/>
          </a:xfrm>
          <a:prstGeom prst="roundRect">
            <a:avLst>
              <a:gd name="adj" fmla="val 78140"/>
            </a:avLst>
          </a:prstGeom>
          <a:solidFill>
            <a:srgbClr val="224435"/>
          </a:solidFill>
          <a:ln/>
        </p:spPr>
      </p:sp>
      <p:sp>
        <p:nvSpPr>
          <p:cNvPr id="11" name="Text 4"/>
          <p:cNvSpPr/>
          <p:nvPr/>
        </p:nvSpPr>
        <p:spPr>
          <a:xfrm>
            <a:off x="6242298" y="17327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6242298" y="2095946"/>
            <a:ext cx="22494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First-time buyers</a:t>
            </a:r>
            <a:endParaRPr lang="en-US" sz="1100" dirty="0"/>
          </a:p>
        </p:txBody>
      </p:sp>
      <p:sp>
        <p:nvSpPr>
          <p:cNvPr id="13" name="Shape 6"/>
          <p:cNvSpPr/>
          <p:nvPr/>
        </p:nvSpPr>
        <p:spPr>
          <a:xfrm>
            <a:off x="6024339" y="2625328"/>
            <a:ext cx="2628230" cy="911647"/>
          </a:xfrm>
          <a:prstGeom prst="roundRect">
            <a:avLst>
              <a:gd name="adj" fmla="val 10030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242298" y="27861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242298" y="3149352"/>
            <a:ext cx="22494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Repeat purchasers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056904" y="3697784"/>
            <a:ext cx="2628230" cy="911647"/>
          </a:xfrm>
          <a:prstGeom prst="roundRect">
            <a:avLst>
              <a:gd name="adj" fmla="val 10030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42298" y="38395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42298" y="4202757"/>
            <a:ext cx="22494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High-frequency buyers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F5811D-645D-BAF1-E551-1C5D6FA4C762}"/>
              </a:ext>
            </a:extLst>
          </p:cNvPr>
          <p:cNvSpPr/>
          <p:nvPr/>
        </p:nvSpPr>
        <p:spPr>
          <a:xfrm>
            <a:off x="670066" y="3697784"/>
            <a:ext cx="5165154" cy="911647"/>
          </a:xfrm>
          <a:prstGeom prst="roundRect">
            <a:avLst/>
          </a:prstGeom>
          <a:solidFill>
            <a:srgbClr val="FFF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Inter Bold" pitchFamily="34" charset="0"/>
              <a:ea typeface="Inter Bold" pitchFamily="34" charset="-122"/>
            </a:endParaRPr>
          </a:p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Inter Bold" pitchFamily="34" charset="0"/>
              <a:ea typeface="Inter Bold" pitchFamily="34" charset="-122"/>
            </a:endParaRPr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19" name="Shape 7"/>
          <p:cNvSpPr/>
          <p:nvPr/>
        </p:nvSpPr>
        <p:spPr>
          <a:xfrm>
            <a:off x="6005289" y="2625328"/>
            <a:ext cx="76200" cy="911647"/>
          </a:xfrm>
          <a:prstGeom prst="roundRect">
            <a:avLst>
              <a:gd name="adj" fmla="val 78140"/>
            </a:avLst>
          </a:prstGeom>
          <a:solidFill>
            <a:srgbClr val="224435"/>
          </a:solidFill>
          <a:ln/>
        </p:spPr>
      </p:sp>
      <p:sp>
        <p:nvSpPr>
          <p:cNvPr id="20" name="Shape 11"/>
          <p:cNvSpPr/>
          <p:nvPr/>
        </p:nvSpPr>
        <p:spPr>
          <a:xfrm>
            <a:off x="6005289" y="3678734"/>
            <a:ext cx="76200" cy="911647"/>
          </a:xfrm>
          <a:prstGeom prst="roundRect">
            <a:avLst>
              <a:gd name="adj" fmla="val 78140"/>
            </a:avLst>
          </a:prstGeom>
          <a:solidFill>
            <a:srgbClr val="224435"/>
          </a:solidFill>
          <a:ln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7C64C6-DAE6-F3CB-26A8-4BD9B3342F11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E098C034-CEF0-B7D2-07E4-7A0DEDAD9CAE}"/>
              </a:ext>
            </a:extLst>
          </p:cNvPr>
          <p:cNvSpPr/>
          <p:nvPr/>
        </p:nvSpPr>
        <p:spPr>
          <a:xfrm>
            <a:off x="623786" y="3697784"/>
            <a:ext cx="76200" cy="911647"/>
          </a:xfrm>
          <a:prstGeom prst="roundRect">
            <a:avLst>
              <a:gd name="adj" fmla="val 78140"/>
            </a:avLst>
          </a:prstGeom>
          <a:solidFill>
            <a:srgbClr val="224435"/>
          </a:solidFill>
          <a:ln/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B9F2997-839B-ED63-D20E-37F78A9C3FE4}"/>
              </a:ext>
            </a:extLst>
          </p:cNvPr>
          <p:cNvSpPr/>
          <p:nvPr/>
        </p:nvSpPr>
        <p:spPr>
          <a:xfrm>
            <a:off x="870055" y="38698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</a:rPr>
              <a:t>Repeat Buyers</a:t>
            </a:r>
            <a:endParaRPr lang="en-US" sz="135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46347B4-A4CE-B60E-C82F-AE6FD7060417}"/>
              </a:ext>
            </a:extLst>
          </p:cNvPr>
          <p:cNvSpPr/>
          <p:nvPr/>
        </p:nvSpPr>
        <p:spPr>
          <a:xfrm>
            <a:off x="904914" y="4202757"/>
            <a:ext cx="43189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</a:rPr>
              <a:t>Customers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&gt;5 purchases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more likely to subscribe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0ABEB-09DE-D447-8A6F-94AB4AA75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86" y="906560"/>
            <a:ext cx="4980263" cy="2641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C745FC0-A09B-AE6E-5F76-E992381DFD9A}"/>
              </a:ext>
            </a:extLst>
          </p:cNvPr>
          <p:cNvGrpSpPr/>
          <p:nvPr/>
        </p:nvGrpSpPr>
        <p:grpSpPr>
          <a:xfrm>
            <a:off x="496119" y="383414"/>
            <a:ext cx="6940799" cy="1109216"/>
            <a:chOff x="496119" y="2017142"/>
            <a:chExt cx="6940799" cy="1109216"/>
          </a:xfrm>
        </p:grpSpPr>
        <p:sp>
          <p:nvSpPr>
            <p:cNvPr id="3" name="Text 0"/>
            <p:cNvSpPr/>
            <p:nvPr/>
          </p:nvSpPr>
          <p:spPr>
            <a:xfrm>
              <a:off x="496119" y="2017142"/>
              <a:ext cx="3992240" cy="4429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450"/>
                </a:lnSpc>
                <a:buNone/>
              </a:pPr>
              <a:r>
                <a:rPr lang="en-US" sz="2750" b="1" dirty="0">
                  <a:solidFill>
                    <a:srgbClr val="233939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Power BI Dashboard</a:t>
              </a:r>
              <a:endParaRPr lang="en-US" sz="2750" dirty="0"/>
            </a:p>
          </p:txBody>
        </p:sp>
        <p:sp>
          <p:nvSpPr>
            <p:cNvPr id="4" name="Text 1"/>
            <p:cNvSpPr/>
            <p:nvPr/>
          </p:nvSpPr>
          <p:spPr>
            <a:xfrm>
              <a:off x="496119" y="2672730"/>
              <a:ext cx="6940799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3B4E4E"/>
                  </a:solidFill>
                  <a:latin typeface="Overpass Light" pitchFamily="34" charset="0"/>
                  <a:ea typeface="Overpass Light" pitchFamily="34" charset="-122"/>
                  <a:cs typeface="Overpass Light" pitchFamily="34" charset="-120"/>
                </a:rPr>
                <a:t>Interactive dashboard built to present all insights visually — enabling stakeholders to explore data dynamically.</a:t>
              </a:r>
              <a:endParaRPr lang="en-US" sz="11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693E94A-D06E-EFFF-4933-896ABCEC5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00" y="1413430"/>
            <a:ext cx="6940799" cy="35336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3520FE-23F1-EC62-6D16-B4AF930FBEA8}"/>
              </a:ext>
            </a:extLst>
          </p:cNvPr>
          <p:cNvSpPr/>
          <p:nvPr/>
        </p:nvSpPr>
        <p:spPr>
          <a:xfrm>
            <a:off x="8025618" y="4804117"/>
            <a:ext cx="1041010" cy="3393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1449"/>
            <a:ext cx="553067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&amp;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70336"/>
            <a:ext cx="2622724" cy="1491406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42640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370336"/>
            <a:ext cx="2622724" cy="1493787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407122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→ Loyal segment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6795" y="1367954"/>
            <a:ext cx="2622724" cy="1493787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171605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lift with margin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252" y="3011948"/>
            <a:ext cx="4004965" cy="1584436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6270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3949136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&amp; best-sellers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4965" cy="159050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302" y="36270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99993" y="3848546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640" y="1486719"/>
            <a:ext cx="354360" cy="35436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7122" y="1486719"/>
            <a:ext cx="354360" cy="35436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1605" y="1517395"/>
            <a:ext cx="354360" cy="354360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3302" y="3150023"/>
            <a:ext cx="354360" cy="354360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640" y="3150023"/>
            <a:ext cx="354360" cy="354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307</Words>
  <Application>Microsoft Office PowerPoint</Application>
  <PresentationFormat>On-screen Show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 Bold</vt:lpstr>
      <vt:lpstr>Syne Bold</vt:lpstr>
      <vt:lpstr>Inter Light</vt:lpstr>
      <vt:lpstr>Inter</vt:lpstr>
      <vt:lpstr>Arial</vt:lpstr>
      <vt:lpstr>Overpass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rupshapaul50@outlook.com</cp:lastModifiedBy>
  <cp:revision>3</cp:revision>
  <dcterms:created xsi:type="dcterms:W3CDTF">2026-05-10T08:22:37Z</dcterms:created>
  <dcterms:modified xsi:type="dcterms:W3CDTF">2026-05-10T10:24:12Z</dcterms:modified>
</cp:coreProperties>
</file>