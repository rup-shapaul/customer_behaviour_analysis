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yne"/>
      <p:regular r:id="rId17"/>
    </p:embeddedFont>
    <p:embeddedFont>
      <p:font typeface="Syne"/>
      <p:regular r:id="rId18"/>
    </p:embeddedFont>
    <p:embeddedFont>
      <p:font typeface="Overpass Light"/>
      <p:regular r:id="rId19"/>
    </p:embeddedFont>
    <p:embeddedFont>
      <p:font typeface="Overpass Light"/>
      <p:regular r:id="rId20"/>
    </p:embeddedFont>
    <p:embeddedFont>
      <p:font typeface="Overpass Light"/>
      <p:regular r:id="rId21"/>
    </p:embeddedFont>
    <p:embeddedFont>
      <p:font typeface="Overpass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FC351"/>
          </a:solidFill>
          <a:ln/>
        </p:spPr>
      </p:sp>
      <p:sp>
        <p:nvSpPr>
          <p:cNvPr id="3" name="Text 1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Shopping Behaviour Analysis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Uncovering spending patterns, customer segments, and product preferences from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3,900 transactions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7652"/>
            <a:ext cx="38940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499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4198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77499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685952" y="24198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77499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462266" y="24198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272638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112666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32591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640" y="3565699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Age, Gender, Location, Subscription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0601" y="3112666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7122" y="32591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07122" y="3565699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Item, Category, Amount, Season, Size, Colour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083" y="3112666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1605" y="32591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Behaviour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71605" y="3565699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Discount, Frequency, Review Rating, Shipping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70954"/>
            <a:ext cx="479353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4699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10" y="1151037"/>
            <a:ext cx="4815780" cy="14288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6" name="Text 3"/>
          <p:cNvSpPr/>
          <p:nvPr/>
        </p:nvSpPr>
        <p:spPr>
          <a:xfrm>
            <a:off x="449610" y="124383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9610" y="1514326"/>
            <a:ext cx="4815780" cy="214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Imported via pandas;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9610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9610" y="2146027"/>
            <a:ext cx="4815780" cy="14288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0" name="Text 7"/>
          <p:cNvSpPr/>
          <p:nvPr/>
        </p:nvSpPr>
        <p:spPr>
          <a:xfrm>
            <a:off x="449610" y="2238821"/>
            <a:ext cx="18023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Clean &amp; Standardize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9610" y="250931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Imputed missing ratings by category median; renamed columns to snake_case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9610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9610" y="3121968"/>
            <a:ext cx="4815780" cy="14288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4" name="Text 11"/>
          <p:cNvSpPr/>
          <p:nvPr/>
        </p:nvSpPr>
        <p:spPr>
          <a:xfrm>
            <a:off x="449610" y="3214762"/>
            <a:ext cx="177112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610" y="3485257"/>
            <a:ext cx="4815780" cy="214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Created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610" y="391291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9610" y="4116958"/>
            <a:ext cx="4815780" cy="14288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8" name="Text 15"/>
          <p:cNvSpPr/>
          <p:nvPr/>
        </p:nvSpPr>
        <p:spPr>
          <a:xfrm>
            <a:off x="449610" y="4209752"/>
            <a:ext cx="17615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Load to PostgreSQL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9610" y="448024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Cleaned DataFrame loaded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5207"/>
            <a:ext cx="5235476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Revenue by Gender &amp; Shipping Type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1225153"/>
            <a:ext cx="143209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Revenue by Gender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3759" y="1470943"/>
            <a:ext cx="467781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Compared total revenue generated by male vs. female customers.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1709440"/>
            <a:ext cx="4677817" cy="26507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45746" y="876746"/>
            <a:ext cx="19518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Shipping Type Comparison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45746" y="1122536"/>
            <a:ext cx="239910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Average purchase amounts: Standard vs. Express shipping.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746" y="1509861"/>
            <a:ext cx="2399109" cy="31987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63657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Top Products &amp; Discount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431503"/>
            <a:ext cx="24270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794718"/>
            <a:ext cx="26282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Highest average review ratings identified.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163291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Discount-Dependent Products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747962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5 products with the highest percentage of discounted purchases.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343349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3928021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Customers using discounts but spending above average purchase amount.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008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Subscribers vs. Non-Subscribers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299395"/>
            <a:ext cx="4722763" cy="1643211"/>
          </a:xfrm>
          <a:prstGeom prst="roundRect">
            <a:avLst>
              <a:gd name="adj" fmla="val 3624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881" y="2304157"/>
            <a:ext cx="4713238" cy="816843"/>
          </a:xfrm>
          <a:prstGeom prst="roundRect">
            <a:avLst>
              <a:gd name="adj" fmla="val 7289"/>
            </a:avLst>
          </a:prstGeom>
          <a:solidFill>
            <a:srgbClr val="DDEEE6"/>
          </a:solidFill>
          <a:ln/>
        </p:spPr>
      </p:sp>
      <p:sp>
        <p:nvSpPr>
          <p:cNvPr id="6" name="Text 3"/>
          <p:cNvSpPr/>
          <p:nvPr/>
        </p:nvSpPr>
        <p:spPr>
          <a:xfrm>
            <a:off x="642640" y="24459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75242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Compared average spend and total revenue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0881" y="3121000"/>
            <a:ext cx="4713238" cy="816843"/>
          </a:xfrm>
          <a:prstGeom prst="rect">
            <a:avLst/>
          </a:prstGeom>
          <a:solidFill>
            <a:srgbClr val="DDEEE6"/>
          </a:solidFill>
          <a:ln/>
        </p:spPr>
      </p:sp>
      <p:sp>
        <p:nvSpPr>
          <p:cNvPr id="9" name="Shape 6"/>
          <p:cNvSpPr/>
          <p:nvPr/>
        </p:nvSpPr>
        <p:spPr>
          <a:xfrm>
            <a:off x="500881" y="3121000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3D4CC"/>
          </a:solidFill>
          <a:ln/>
        </p:spPr>
      </p:sp>
      <p:sp>
        <p:nvSpPr>
          <p:cNvPr id="10" name="Text 7"/>
          <p:cNvSpPr/>
          <p:nvPr/>
        </p:nvSpPr>
        <p:spPr>
          <a:xfrm>
            <a:off x="642640" y="32627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2640" y="356927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Compared average spend and total revenue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650"/>
            <a:ext cx="478742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190997"/>
            <a:ext cx="25909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Three Customer Segments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24339" y="1571923"/>
            <a:ext cx="2628230" cy="911647"/>
          </a:xfrm>
          <a:prstGeom prst="roundRect">
            <a:avLst>
              <a:gd name="adj" fmla="val 10030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05289" y="1571923"/>
            <a:ext cx="76200" cy="911647"/>
          </a:xfrm>
          <a:prstGeom prst="roundRect">
            <a:avLst>
              <a:gd name="adj" fmla="val 78140"/>
            </a:avLst>
          </a:prstGeom>
          <a:solidFill>
            <a:srgbClr val="224435"/>
          </a:solidFill>
          <a:ln/>
        </p:spPr>
      </p:sp>
      <p:sp>
        <p:nvSpPr>
          <p:cNvPr id="7" name="Text 4"/>
          <p:cNvSpPr/>
          <p:nvPr/>
        </p:nvSpPr>
        <p:spPr>
          <a:xfrm>
            <a:off x="6242298" y="17327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42298" y="2095946"/>
            <a:ext cx="22494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First-time buyers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24339" y="2625328"/>
            <a:ext cx="2628230" cy="911647"/>
          </a:xfrm>
          <a:prstGeom prst="roundRect">
            <a:avLst>
              <a:gd name="adj" fmla="val 10030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05289" y="2625328"/>
            <a:ext cx="76200" cy="911647"/>
          </a:xfrm>
          <a:prstGeom prst="roundRect">
            <a:avLst>
              <a:gd name="adj" fmla="val 78140"/>
            </a:avLst>
          </a:prstGeom>
          <a:solidFill>
            <a:srgbClr val="224435"/>
          </a:solidFill>
          <a:ln/>
        </p:spPr>
      </p:sp>
      <p:sp>
        <p:nvSpPr>
          <p:cNvPr id="11" name="Text 8"/>
          <p:cNvSpPr/>
          <p:nvPr/>
        </p:nvSpPr>
        <p:spPr>
          <a:xfrm>
            <a:off x="6242298" y="27861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42298" y="3149352"/>
            <a:ext cx="22494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Repeat purchasers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24339" y="3678734"/>
            <a:ext cx="2628230" cy="911647"/>
          </a:xfrm>
          <a:prstGeom prst="roundRect">
            <a:avLst>
              <a:gd name="adj" fmla="val 10030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05289" y="3678734"/>
            <a:ext cx="76200" cy="911647"/>
          </a:xfrm>
          <a:prstGeom prst="roundRect">
            <a:avLst>
              <a:gd name="adj" fmla="val 78140"/>
            </a:avLst>
          </a:prstGeom>
          <a:solidFill>
            <a:srgbClr val="224435"/>
          </a:solidFill>
          <a:ln/>
        </p:spPr>
      </p:sp>
      <p:sp>
        <p:nvSpPr>
          <p:cNvPr id="15" name="Text 12"/>
          <p:cNvSpPr/>
          <p:nvPr/>
        </p:nvSpPr>
        <p:spPr>
          <a:xfrm>
            <a:off x="6242298" y="38395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42298" y="4202757"/>
            <a:ext cx="22494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High-frequency buyers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18567"/>
            <a:ext cx="6859935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Top Products per Category &amp; Revenue by Age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1166366"/>
            <a:ext cx="215905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Top 3 Products per Category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0912" y="1425848"/>
            <a:ext cx="487278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Most purchased products within each category.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1680939"/>
            <a:ext cx="4872782" cy="276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8579" y="880914"/>
            <a:ext cx="172536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Revenue by Age Group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98579" y="1140396"/>
            <a:ext cx="249912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Total revenue contribution of each age group.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579" y="1395487"/>
            <a:ext cx="2499122" cy="33321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017142"/>
            <a:ext cx="39922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727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Interactive dashboard built to present all insights visually — enabling stakeholders to explore data dynamically.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55606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9241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Reward repeat buyers toward "Loyal"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50152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2259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08263"/>
            <a:ext cx="19073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1477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08263"/>
            <a:ext cx="18989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1477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Highlight top-rated and best-selling products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2026-05-10T06:41:34Z</dcterms:created>
  <dcterms:modified xsi:type="dcterms:W3CDTF">2026-05-10T06:41:34Z</dcterms:modified>
</cp:coreProperties>
</file>